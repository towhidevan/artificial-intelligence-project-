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Prior (No Evidence)</c:v>
                </c:pt>
              </c:strCache>
            </c:strRef>
          </c:tx>
          <c:spPr>
            <a:solidFill>
              <a:srgbClr val="00BFA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Suspect A</c:v>
                </c:pt>
                <c:pt idx="1">
                  <c:v>Suspect B</c:v>
                </c:pt>
                <c:pt idx="2">
                  <c:v>Suspect C</c:v>
                </c:pt>
                <c:pt idx="3">
                  <c:v>Suspect 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0B-4420-9880-E7C7A9747F8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Posterior (After Evidence)</c:v>
                </c:pt>
              </c:strCache>
            </c:strRef>
          </c:tx>
          <c:spPr>
            <a:solidFill>
              <a:srgbClr val="F5C84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Suspect A</c:v>
                </c:pt>
                <c:pt idx="1">
                  <c:v>Suspect B</c:v>
                </c:pt>
                <c:pt idx="2">
                  <c:v>Suspect C</c:v>
                </c:pt>
                <c:pt idx="3">
                  <c:v>Suspect 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62</c:v>
                </c:pt>
                <c:pt idx="1">
                  <c:v>18</c:v>
                </c:pt>
                <c:pt idx="2">
                  <c:v>12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30B-4420-9880-E7C7A9747F8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DF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0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DF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E3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E8EDF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41E3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376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881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41E3C"/>
          </a:solidFill>
          <a:ln w="12700">
            <a:solidFill>
              <a:srgbClr val="141E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457200"/>
            <a:ext cx="2011680" cy="2011680"/>
          </a:xfrm>
          <a:prstGeom prst="ellipse">
            <a:avLst/>
          </a:prstGeom>
          <a:solidFill>
            <a:srgbClr val="00BFA6">
              <a:alpha val="20000"/>
            </a:srgbClr>
          </a:solidFill>
          <a:ln w="12700">
            <a:solidFill>
              <a:srgbClr val="00BFA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731520"/>
            <a:ext cx="1371600" cy="1371600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00BF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8001000" y="1920240"/>
            <a:ext cx="109728" cy="68580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29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 SYSTEM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2450" y="844595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Mystery Solver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274320" y="2052828"/>
            <a:ext cx="1097280" cy="5029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2450" y="2210478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Bayesian Network-Based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 System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Probabilistic Crime Analysis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52450" y="3552484"/>
            <a:ext cx="8595360" cy="1492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u="sng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( Group-8 )</a:t>
            </a:r>
          </a:p>
          <a:p>
            <a:pPr marL="0" indent="0">
              <a:buNone/>
            </a:pPr>
            <a:endParaRPr lang="en-US" sz="1100" i="1" dirty="0">
              <a:solidFill>
                <a:srgbClr val="8FA3B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1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Nafiz Un Nabi Ishan (2121346042)</a:t>
            </a:r>
          </a:p>
          <a:p>
            <a:r>
              <a:rPr lang="en-US" sz="11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Al </a:t>
            </a:r>
            <a:r>
              <a:rPr lang="en-US" sz="1100" i="1" dirty="0" err="1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Towhid</a:t>
            </a:r>
            <a:r>
              <a:rPr lang="en-US" sz="11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(2031045042)</a:t>
            </a:r>
          </a:p>
          <a:p>
            <a:r>
              <a:rPr lang="en-US" sz="1100" i="1" dirty="0" err="1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Ruddro</a:t>
            </a:r>
            <a:r>
              <a:rPr lang="en-US" sz="11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Debnath </a:t>
            </a:r>
            <a:r>
              <a:rPr lang="en-US" sz="1100" i="1" dirty="0" err="1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Badhon</a:t>
            </a:r>
            <a:r>
              <a:rPr lang="en-US" sz="11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(2021009642)</a:t>
            </a:r>
          </a:p>
          <a:p>
            <a:r>
              <a:rPr lang="en-US" sz="1100" i="1" dirty="0" err="1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Saif</a:t>
            </a:r>
            <a:r>
              <a:rPr lang="en-US" sz="11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Mahmood Chowdhury (2132325642)</a:t>
            </a:r>
          </a:p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340"/>
          </a:solidFill>
          <a:ln w="12700">
            <a:solidFill>
              <a:srgbClr val="0B1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will learn from this project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1508760"/>
          </a:xfrm>
          <a:prstGeom prst="rect">
            <a:avLst/>
          </a:prstGeom>
          <a:solidFill>
            <a:srgbClr val="0B1340"/>
          </a:solidFill>
          <a:ln w="12700">
            <a:solidFill>
              <a:srgbClr val="0B1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28016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34440" y="129844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Bayesian Networks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1938528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probabilistic graphical models and their structure in AI systems.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4114800" cy="1508760"/>
          </a:xfrm>
          <a:prstGeom prst="rect">
            <a:avLst/>
          </a:prstGeom>
          <a:solidFill>
            <a:srgbClr val="0B1340"/>
          </a:solidFill>
          <a:ln w="12700">
            <a:solidFill>
              <a:srgbClr val="0B13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5192" y="128016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669280" y="129844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Probabilistic Inference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65192" y="1938528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how Bayesian inference updates beliefs as new evidence is introduced.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4114800" cy="1508760"/>
          </a:xfrm>
          <a:prstGeom prst="rect">
            <a:avLst/>
          </a:prstGeom>
          <a:solidFill>
            <a:srgbClr val="0B1340"/>
          </a:solidFill>
          <a:ln w="12700">
            <a:solidFill>
              <a:srgbClr val="0B1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97180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234440" y="299008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Uncertainty Modeling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52" y="3630168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uncertainty mathematically — beyond simple rule-based logic.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2880360"/>
            <a:ext cx="4114800" cy="1508760"/>
          </a:xfrm>
          <a:prstGeom prst="rect">
            <a:avLst/>
          </a:prstGeom>
          <a:solidFill>
            <a:srgbClr val="0B1340"/>
          </a:solidFill>
          <a:ln w="12700">
            <a:solidFill>
              <a:srgbClr val="0B13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297180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669280" y="299008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Application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65192" y="3630168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AI &amp; probability theory to simulate investigative crime reasoning.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41E3C"/>
          </a:solidFill>
          <a:ln w="12700">
            <a:solidFill>
              <a:srgbClr val="141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Mystery Solver?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Solver is an intelligent decision-support system that uses Bayesian Networks to solve fictional mystery scenarios by calculating the probability of each suspect being guilty based on available evidence.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0" y="1234440"/>
            <a:ext cx="3017520" cy="1005840"/>
          </a:xfrm>
          <a:prstGeom prst="rect">
            <a:avLst/>
          </a:prstGeom>
          <a:solidFill>
            <a:srgbClr val="1A2855"/>
          </a:solidFill>
          <a:ln w="19050">
            <a:solidFill>
              <a:srgbClr val="00BF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0" y="1307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35040" y="161848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Clues &amp; Evidence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52160" y="2423160"/>
            <a:ext cx="3017520" cy="1005840"/>
          </a:xfrm>
          <a:prstGeom prst="rect">
            <a:avLst/>
          </a:prstGeom>
          <a:solidFill>
            <a:srgbClr val="1A2855"/>
          </a:solidFill>
          <a:ln w="19050">
            <a:solidFill>
              <a:srgbClr val="00BF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24963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35040" y="28072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Bayesian Network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52160" y="3611880"/>
            <a:ext cx="3017520" cy="1005840"/>
          </a:xfrm>
          <a:prstGeom prst="rect">
            <a:avLst/>
          </a:prstGeom>
          <a:solidFill>
            <a:srgbClr val="1A2855"/>
          </a:solidFill>
          <a:ln w="19050">
            <a:solidFill>
              <a:srgbClr val="00BF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3685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35040" y="39959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Suspect Probabilities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77316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AI + Probability Theory to simulate real-world investigative reasoning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340"/>
          </a:solidFill>
          <a:ln w="12700">
            <a:solidFill>
              <a:srgbClr val="0B1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Workflow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103120" y="1920240"/>
            <a:ext cx="32004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2331720" y="1801368"/>
            <a:ext cx="91440" cy="310896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417320"/>
            <a:ext cx="1874520" cy="2651760"/>
          </a:xfrm>
          <a:prstGeom prst="rect">
            <a:avLst/>
          </a:prstGeom>
          <a:solidFill>
            <a:srgbClr val="0B1340"/>
          </a:solidFill>
          <a:ln w="12700">
            <a:solidFill>
              <a:srgbClr val="0B13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54480"/>
            <a:ext cx="685800" cy="68580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54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" y="237744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Inputs Evidence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3035808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Clues like alibis, motives, witness statements, fingerprints are entered into the system.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15968" y="1920240"/>
            <a:ext cx="32004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4544568" y="1801368"/>
            <a:ext cx="91440" cy="310896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41448" y="1417320"/>
            <a:ext cx="1874520" cy="2651760"/>
          </a:xfrm>
          <a:prstGeom prst="rect">
            <a:avLst/>
          </a:prstGeom>
          <a:solidFill>
            <a:srgbClr val="0B1340"/>
          </a:solidFill>
          <a:ln w="12700">
            <a:solidFill>
              <a:srgbClr val="0B13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35808" y="1554480"/>
            <a:ext cx="685800" cy="68580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5808" y="1554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532888" y="237744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 Modeling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32888" y="3035808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between suspects, motives, opportunities &amp; evidence are modeled as a Bayesian Network.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28816" y="1920240"/>
            <a:ext cx="32004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2700000">
            <a:off x="6757416" y="1801368"/>
            <a:ext cx="91440" cy="310896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54296" y="1417320"/>
            <a:ext cx="1874520" cy="2651760"/>
          </a:xfrm>
          <a:prstGeom prst="rect">
            <a:avLst/>
          </a:prstGeom>
          <a:solidFill>
            <a:srgbClr val="0B1340"/>
          </a:solidFill>
          <a:ln w="12700">
            <a:solidFill>
              <a:srgbClr val="0B13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48656" y="1554480"/>
            <a:ext cx="685800" cy="68580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48656" y="1554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45736" y="237744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Bayesian Inference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45736" y="3035808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clue updates belief through conditional probability — posterior probabilities are calculated.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67144" y="1417320"/>
            <a:ext cx="1874520" cy="2651760"/>
          </a:xfrm>
          <a:prstGeom prst="rect">
            <a:avLst/>
          </a:prstGeom>
          <a:solidFill>
            <a:srgbClr val="0B1340"/>
          </a:solidFill>
          <a:ln w="12700">
            <a:solidFill>
              <a:srgbClr val="0B13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61504" y="1554480"/>
            <a:ext cx="685800" cy="68580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61504" y="1554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958584" y="237744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Probability Output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58584" y="3035808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continuously revises and displays guilt probabilities for each suspect.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B1340"/>
          </a:solidFill>
          <a:ln w="12700">
            <a:solidFill>
              <a:srgbClr val="0B13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77316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is handled mathematically — the system revises probabilities as new information is added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41E3C"/>
          </a:solidFill>
          <a:ln w="12700">
            <a:solidFill>
              <a:srgbClr val="141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Theoretical Foundations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481328"/>
            <a:ext cx="2788920" cy="1508760"/>
          </a:xfrm>
          <a:prstGeom prst="rect">
            <a:avLst/>
          </a:prstGeom>
          <a:solidFill>
            <a:srgbClr val="1A2855"/>
          </a:solidFill>
          <a:ln w="12700">
            <a:solidFill>
              <a:srgbClr val="1A28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481328"/>
            <a:ext cx="2788920" cy="54864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5727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Model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8328" y="18288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Bayesian Networks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" y="2194560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graphical models that represent variables and their conditional dependencies via a directed acyclic graph (DAG).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72968" y="1481328"/>
            <a:ext cx="2788920" cy="1508760"/>
          </a:xfrm>
          <a:prstGeom prst="rect">
            <a:avLst/>
          </a:prstGeom>
          <a:solidFill>
            <a:srgbClr val="1A2855"/>
          </a:solidFill>
          <a:ln w="12700">
            <a:solidFill>
              <a:srgbClr val="1A28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72968" y="1481328"/>
            <a:ext cx="2788920" cy="54864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82696" y="15727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P(A|B)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82696" y="18288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Conditional Probability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82696" y="2194560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P(A|B) — probability of event A given that B is true. The mathematical backbone of all inference in this system.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17336" y="1481328"/>
            <a:ext cx="2788920" cy="1508760"/>
          </a:xfrm>
          <a:prstGeom prst="rect">
            <a:avLst/>
          </a:prstGeom>
          <a:solidFill>
            <a:srgbClr val="1A2855"/>
          </a:solidFill>
          <a:ln w="12700">
            <a:solidFill>
              <a:srgbClr val="1A28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17336" y="1481328"/>
            <a:ext cx="2788920" cy="54864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27064" y="15727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27064" y="18288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 Probability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27064" y="2194560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belief about a suspect's guilt before any evidence is considered. The starting point of reasoning.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3172968"/>
            <a:ext cx="2788920" cy="1508760"/>
          </a:xfrm>
          <a:prstGeom prst="rect">
            <a:avLst/>
          </a:prstGeom>
          <a:solidFill>
            <a:srgbClr val="1A2855"/>
          </a:solidFill>
          <a:ln w="12700">
            <a:solidFill>
              <a:srgbClr val="1A28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3172968"/>
            <a:ext cx="2788920" cy="54864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" y="32644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8328" y="35204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Posterior Probability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" y="3886200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belief after incorporating new evidence using Bayes' theorem: P(H|E) = P(E|H)·P(H) / P(E).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72968" y="3172968"/>
            <a:ext cx="2788920" cy="1508760"/>
          </a:xfrm>
          <a:prstGeom prst="rect">
            <a:avLst/>
          </a:prstGeom>
          <a:solidFill>
            <a:srgbClr val="1A2855"/>
          </a:solidFill>
          <a:ln w="12700">
            <a:solidFill>
              <a:srgbClr val="1A28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72968" y="3172968"/>
            <a:ext cx="2788920" cy="54864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82696" y="32644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82696" y="35204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Probabilistic Reasoning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82696" y="3886200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decisions under uncertainty by assigning degrees of belief rather than binary true/false judgments.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17336" y="3172968"/>
            <a:ext cx="2788920" cy="1508760"/>
          </a:xfrm>
          <a:prstGeom prst="rect">
            <a:avLst/>
          </a:prstGeom>
          <a:solidFill>
            <a:srgbClr val="1A2855"/>
          </a:solidFill>
          <a:ln w="12700">
            <a:solidFill>
              <a:srgbClr val="1A28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17336" y="3172968"/>
            <a:ext cx="2788920" cy="54864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27064" y="32644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27064" y="35204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 Propagation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27064" y="3886200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by which new clues flow through the network to update all connected probability estimates.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340"/>
          </a:solidFill>
          <a:ln w="12700">
            <a:solidFill>
              <a:srgbClr val="0B1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TYPES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 of Clues Accepted by the System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65760" y="1353312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clue type feeds directly into the Bayesian Network and contributes probabilistic weight toward calculating suspect guilt.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577840" y="1024128"/>
            <a:ext cx="502920" cy="502920"/>
          </a:xfrm>
          <a:prstGeom prst="ellipse">
            <a:avLst/>
          </a:prstGeom>
          <a:solidFill>
            <a:srgbClr val="0B1340"/>
          </a:solidFill>
          <a:ln w="19050">
            <a:solidFill>
              <a:srgbClr val="00BF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0" y="1024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960120"/>
            <a:ext cx="2743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9875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Alibi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63640" y="124358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or challenges suspect's claimed location at time of crime.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577840" y="1828800"/>
            <a:ext cx="502920" cy="502920"/>
          </a:xfrm>
          <a:prstGeom prst="ellipse">
            <a:avLst/>
          </a:prstGeom>
          <a:solidFill>
            <a:srgbClr val="0B1340"/>
          </a:solidFill>
          <a:ln w="19050">
            <a:solidFill>
              <a:srgbClr val="00BF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1764792"/>
            <a:ext cx="2743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7922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204825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a suspect might have committed the crime.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577840" y="2633472"/>
            <a:ext cx="502920" cy="502920"/>
          </a:xfrm>
          <a:prstGeom prst="ellipse">
            <a:avLst/>
          </a:prstGeom>
          <a:solidFill>
            <a:srgbClr val="0B1340"/>
          </a:solidFill>
          <a:ln w="19050">
            <a:solidFill>
              <a:srgbClr val="00BF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2633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2569464"/>
            <a:ext cx="2743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259689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Witness Statement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28529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accounts that confirm or deny involvement.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77840" y="3438144"/>
            <a:ext cx="502920" cy="502920"/>
          </a:xfrm>
          <a:prstGeom prst="ellipse">
            <a:avLst/>
          </a:prstGeom>
          <a:solidFill>
            <a:srgbClr val="0B1340"/>
          </a:solidFill>
          <a:ln w="19050">
            <a:solidFill>
              <a:srgbClr val="00BF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34381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72200" y="3374136"/>
            <a:ext cx="2743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34015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Fingerprints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63640" y="365760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forensic evidence linking suspect to crime scene.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77840" y="4242816"/>
            <a:ext cx="502920" cy="502920"/>
          </a:xfrm>
          <a:prstGeom prst="ellipse">
            <a:avLst/>
          </a:prstGeom>
          <a:solidFill>
            <a:srgbClr val="0B1340"/>
          </a:solidFill>
          <a:ln w="19050">
            <a:solidFill>
              <a:srgbClr val="00BF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42428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72200" y="4178808"/>
            <a:ext cx="2743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42062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Opportunity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63640" y="446227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suspect had access and means to commit the crime.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41E3C"/>
          </a:solidFill>
          <a:ln w="12700">
            <a:solidFill>
              <a:srgbClr val="141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Suspect Guilt Probabilities — Sample Output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 update dynamically as each new clue is introduced into the system.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828800"/>
          <a:ext cx="82296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340"/>
          </a:solidFill>
          <a:ln w="12700">
            <a:solidFill>
              <a:srgbClr val="0B1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 Structure &amp; Components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651760" cy="411480"/>
          </a:xfrm>
          <a:prstGeom prst="rect">
            <a:avLst/>
          </a:prstGeom>
          <a:solidFill>
            <a:srgbClr val="0B1340"/>
          </a:solidFill>
          <a:ln w="12700">
            <a:solidFill>
              <a:srgbClr val="0B1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087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993392"/>
            <a:ext cx="26517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993392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615184"/>
            <a:ext cx="26517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615184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Clue Entry Form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236976"/>
            <a:ext cx="26517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3236976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Parser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017520" y="2377440"/>
            <a:ext cx="256032" cy="73152"/>
          </a:xfrm>
          <a:prstGeom prst="rect">
            <a:avLst/>
          </a:prstGeom>
          <a:solidFill>
            <a:srgbClr val="0B1340"/>
          </a:solidFill>
          <a:ln w="12700">
            <a:solidFill>
              <a:srgbClr val="0B13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508760"/>
            <a:ext cx="2651760" cy="41148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5087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ENGINE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1993392"/>
            <a:ext cx="26517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1993392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Network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91840" y="2615184"/>
            <a:ext cx="26517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01568" y="2615184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 Tables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91840" y="3236976"/>
            <a:ext cx="26517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01568" y="3236976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 Propagation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43600" y="2377440"/>
            <a:ext cx="256032" cy="73152"/>
          </a:xfrm>
          <a:prstGeom prst="rect">
            <a:avLst/>
          </a:prstGeom>
          <a:solidFill>
            <a:srgbClr val="0B1340"/>
          </a:solidFill>
          <a:ln w="12700">
            <a:solidFill>
              <a:srgbClr val="0B13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1508760"/>
            <a:ext cx="2651760" cy="41148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15087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1993392"/>
            <a:ext cx="26517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7648" y="1993392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 Rankings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17920" y="2615184"/>
            <a:ext cx="26517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27648" y="2615184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Scores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17920" y="3236976"/>
            <a:ext cx="26517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27648" y="3236976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View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65760" y="4133088"/>
            <a:ext cx="8412480" cy="777240"/>
          </a:xfrm>
          <a:prstGeom prst="rect">
            <a:avLst/>
          </a:prstGeom>
          <a:solidFill>
            <a:srgbClr val="0B1340"/>
          </a:solidFill>
          <a:ln w="12700">
            <a:solidFill>
              <a:srgbClr val="0B13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133088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Bayes' Theorem:  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377440" y="4133088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P(Guilty | Evidence)  =  P(Evidence | Guilty) × P(Guilty)  /  P(Evidence)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41E3C"/>
          </a:solidFill>
          <a:ln w="12700">
            <a:solidFill>
              <a:srgbClr val="141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VALUE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Project Matters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73152" cy="64008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087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Learning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actively add clues and observe how probabilities shift — making abstract concepts tangible.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715768"/>
            <a:ext cx="73152" cy="64008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6700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Realistic AI Modeling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303580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beyond binary rule-based logic to probabilistic reasoning, mirroring actual intelligent systems.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877056"/>
            <a:ext cx="73152" cy="64008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83133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 Feedback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4197096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visual response to evidence input reinforces understanding of Bayesian updates.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1463040"/>
            <a:ext cx="3749040" cy="1005840"/>
          </a:xfrm>
          <a:prstGeom prst="rect">
            <a:avLst/>
          </a:prstGeom>
          <a:solidFill>
            <a:srgbClr val="1A2855"/>
          </a:solidFill>
          <a:ln w="12700">
            <a:solidFill>
              <a:srgbClr val="1A28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1499616"/>
            <a:ext cx="11887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446520" y="160020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0" y="2624328"/>
            <a:ext cx="3749040" cy="1005840"/>
          </a:xfrm>
          <a:prstGeom prst="rect">
            <a:avLst/>
          </a:prstGeom>
          <a:solidFill>
            <a:srgbClr val="1A2855"/>
          </a:solidFill>
          <a:ln w="12700">
            <a:solidFill>
              <a:srgbClr val="1A28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0" y="2660904"/>
            <a:ext cx="11887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5+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446520" y="2761488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0" y="3785616"/>
            <a:ext cx="3749040" cy="1005840"/>
          </a:xfrm>
          <a:prstGeom prst="rect">
            <a:avLst/>
          </a:prstGeom>
          <a:solidFill>
            <a:srgbClr val="1A2855"/>
          </a:solidFill>
          <a:ln w="12700">
            <a:solidFill>
              <a:srgbClr val="1A28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3822192"/>
            <a:ext cx="11887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446520" y="3922776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Suspects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340"/>
          </a:solidFill>
          <a:ln w="12700">
            <a:solidFill>
              <a:srgbClr val="0B1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SCENARIO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Study: The Office Theft Mystery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3931920" cy="1234440"/>
          </a:xfrm>
          <a:prstGeom prst="rect">
            <a:avLst/>
          </a:prstGeom>
          <a:solidFill>
            <a:srgbClr val="0B1340"/>
          </a:solidFill>
          <a:ln w="12700">
            <a:solidFill>
              <a:srgbClr val="0B1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3657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valuable item went missing from an office. Three suspects — Alex, Jordan, and Morgan — are identified. The system evaluates clues to determine who is most likely guilty.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14630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ENTERED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1810512"/>
            <a:ext cx="4297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810512"/>
            <a:ext cx="64008" cy="566928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85623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Alibi Check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09160" y="2103120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has no alibi for the time window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092440" y="192024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6E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+18%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2468880"/>
            <a:ext cx="4297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2468880"/>
            <a:ext cx="64008" cy="566928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2514600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Fingerprints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2761488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Alex's prints found near the scene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092440" y="257860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6E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+22%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3127248"/>
            <a:ext cx="4297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127248"/>
            <a:ext cx="64008" cy="566928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317296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3419856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 had financial motive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092440" y="3236976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6E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+14%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3785616"/>
            <a:ext cx="4297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3785616"/>
            <a:ext cx="64008" cy="566928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3831336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Witness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4078224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Morgan was seen elsewhere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092440" y="3895344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93C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−15%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572000"/>
            <a:ext cx="8412480" cy="438912"/>
          </a:xfrm>
          <a:prstGeom prst="rect">
            <a:avLst/>
          </a:prstGeom>
          <a:solidFill>
            <a:srgbClr val="0B1340"/>
          </a:solidFill>
          <a:ln w="12700">
            <a:solidFill>
              <a:srgbClr val="0B13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57200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920240" y="4572000"/>
            <a:ext cx="6675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Alex — 61%   Jordan — 24%   Morgan — 15%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41E3C"/>
          </a:solidFill>
          <a:ln w="12700">
            <a:solidFill>
              <a:srgbClr val="141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&amp; Technologies Used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4206240" cy="960120"/>
          </a:xfrm>
          <a:prstGeom prst="rect">
            <a:avLst/>
          </a:prstGeom>
          <a:solidFill>
            <a:srgbClr val="1A2855"/>
          </a:solidFill>
          <a:ln w="12700">
            <a:solidFill>
              <a:srgbClr val="1A28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508760"/>
            <a:ext cx="4206240" cy="4572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66160" y="1600200"/>
            <a:ext cx="822960" cy="237744"/>
          </a:xfrm>
          <a:prstGeom prst="rect">
            <a:avLst/>
          </a:prstGeom>
          <a:solidFill>
            <a:srgbClr val="007A6A"/>
          </a:solidFill>
          <a:ln w="10160">
            <a:solidFill>
              <a:srgbClr val="00BF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60020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48056" y="1600200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48056" y="181965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3.x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8056" y="2112264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 for system logic, inference engine, and data handling.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606040"/>
            <a:ext cx="4206240" cy="960120"/>
          </a:xfrm>
          <a:prstGeom prst="rect">
            <a:avLst/>
          </a:prstGeom>
          <a:solidFill>
            <a:srgbClr val="1A2855"/>
          </a:solidFill>
          <a:ln w="12700">
            <a:solidFill>
              <a:srgbClr val="1A28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606040"/>
            <a:ext cx="4206240" cy="4572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2697480"/>
            <a:ext cx="822960" cy="237744"/>
          </a:xfrm>
          <a:prstGeom prst="rect">
            <a:avLst/>
          </a:prstGeom>
          <a:solidFill>
            <a:srgbClr val="007A6A"/>
          </a:solidFill>
          <a:ln w="10160">
            <a:solidFill>
              <a:srgbClr val="00BF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269748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48056" y="2697480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LIBRARY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8056" y="291693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pgmpy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8056" y="3209544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library for Probabilistic Graphical Models — used to build and query Bayesian Networks.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703320"/>
            <a:ext cx="4206240" cy="960120"/>
          </a:xfrm>
          <a:prstGeom prst="rect">
            <a:avLst/>
          </a:prstGeom>
          <a:solidFill>
            <a:srgbClr val="1A2855"/>
          </a:solidFill>
          <a:ln w="12700">
            <a:solidFill>
              <a:srgbClr val="1A28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703320"/>
            <a:ext cx="4206240" cy="4572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66160" y="3794760"/>
            <a:ext cx="822960" cy="237744"/>
          </a:xfrm>
          <a:prstGeom prst="rect">
            <a:avLst/>
          </a:prstGeom>
          <a:solidFill>
            <a:srgbClr val="007A6A"/>
          </a:solidFill>
          <a:ln w="10160">
            <a:solidFill>
              <a:srgbClr val="00BF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379476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8056" y="3794760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48056" y="401421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NumPy / Pandas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48056" y="4306824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computation and structured data management for conditional probability tables.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92040" y="1508760"/>
            <a:ext cx="4206240" cy="960120"/>
          </a:xfrm>
          <a:prstGeom prst="rect">
            <a:avLst/>
          </a:prstGeom>
          <a:solidFill>
            <a:srgbClr val="1A2855"/>
          </a:solidFill>
          <a:ln w="12700">
            <a:solidFill>
              <a:srgbClr val="1A28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92040" y="1508760"/>
            <a:ext cx="4206240" cy="4572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38160" y="1600200"/>
            <a:ext cx="822960" cy="237744"/>
          </a:xfrm>
          <a:prstGeom prst="rect">
            <a:avLst/>
          </a:prstGeom>
          <a:solidFill>
            <a:srgbClr val="007A6A"/>
          </a:solidFill>
          <a:ln w="10160">
            <a:solidFill>
              <a:srgbClr val="00BF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0" y="160020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20056" y="1600200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0056" y="181965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Tkinter / Streamlit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020056" y="2112264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front-end for clue entry, evidence selection, and probability visualization.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92040" y="2606040"/>
            <a:ext cx="4206240" cy="960120"/>
          </a:xfrm>
          <a:prstGeom prst="rect">
            <a:avLst/>
          </a:prstGeom>
          <a:solidFill>
            <a:srgbClr val="1A2855"/>
          </a:solidFill>
          <a:ln w="12700">
            <a:solidFill>
              <a:srgbClr val="1A28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2606040"/>
            <a:ext cx="4206240" cy="4572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38160" y="2697480"/>
            <a:ext cx="822960" cy="237744"/>
          </a:xfrm>
          <a:prstGeom prst="rect">
            <a:avLst/>
          </a:prstGeom>
          <a:solidFill>
            <a:srgbClr val="007A6A"/>
          </a:solidFill>
          <a:ln w="10160">
            <a:solidFill>
              <a:srgbClr val="00BF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38160" y="269748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20056" y="2697480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020056" y="291693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Matplotlib / NetworkX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020056" y="3209544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rendering of Bayesian Network structure and bar charts for suspect probability output.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E3C"/>
          </a:solidFill>
          <a:ln w="12700">
            <a:solidFill>
              <a:srgbClr val="141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40">
              <a:alpha val="70000"/>
            </a:srgbClr>
          </a:solidFill>
          <a:ln w="12700">
            <a:solidFill>
              <a:srgbClr val="0B13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Mystery Solver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3474720" y="2359152"/>
            <a:ext cx="2194560" cy="5029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51460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how Artificial Intelligence and Probability Theory can be combined to model real-world investigative reasoning — making uncertainty quantifiable, decisions explainable, and learning interactive.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977640"/>
            <a:ext cx="1645920" cy="347472"/>
          </a:xfrm>
          <a:prstGeom prst="rect">
            <a:avLst/>
          </a:prstGeom>
          <a:solidFill>
            <a:srgbClr val="007A6A"/>
          </a:solidFill>
          <a:ln w="10160">
            <a:solidFill>
              <a:srgbClr val="00BF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9776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Networks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0" y="3977640"/>
            <a:ext cx="1645920" cy="347472"/>
          </a:xfrm>
          <a:prstGeom prst="rect">
            <a:avLst/>
          </a:prstGeom>
          <a:solidFill>
            <a:srgbClr val="007A6A"/>
          </a:solidFill>
          <a:ln w="10160">
            <a:solidFill>
              <a:srgbClr val="00BF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39776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Inference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3977640"/>
            <a:ext cx="1645920" cy="347472"/>
          </a:xfrm>
          <a:prstGeom prst="rect">
            <a:avLst/>
          </a:prstGeom>
          <a:solidFill>
            <a:srgbClr val="007A6A"/>
          </a:solidFill>
          <a:ln w="10160">
            <a:solidFill>
              <a:srgbClr val="00BF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39776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0" y="3977640"/>
            <a:ext cx="1645920" cy="347472"/>
          </a:xfrm>
          <a:prstGeom prst="rect">
            <a:avLst/>
          </a:prstGeom>
          <a:solidFill>
            <a:srgbClr val="007A6A"/>
          </a:solidFill>
          <a:ln w="10160">
            <a:solidFill>
              <a:srgbClr val="00BF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39776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Education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217733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896</Words>
  <Application>Microsoft Office PowerPoint</Application>
  <PresentationFormat>On-screen Show (16:9)</PresentationFormat>
  <Paragraphs>183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Mystery Solver</dc:title>
  <dc:subject>PptxGenJS Presentation</dc:subject>
  <dc:creator>Mystery Solver Project</dc:creator>
  <cp:lastModifiedBy>Md. Nafiz Un</cp:lastModifiedBy>
  <cp:revision>6</cp:revision>
  <dcterms:created xsi:type="dcterms:W3CDTF">2026-04-25T17:26:52Z</dcterms:created>
  <dcterms:modified xsi:type="dcterms:W3CDTF">2026-04-26T18:35:29Z</dcterms:modified>
</cp:coreProperties>
</file>